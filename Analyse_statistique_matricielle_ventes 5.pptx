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658368"/>
            <a:ext cx="2286000" cy="310896"/>
          </a:xfrm>
          <a:prstGeom prst="round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2194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EXERCICE APPLIQUÉ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315200" cy="1371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Analyse statistique</a:t>
            </a:r>
            <a:br/>
            <a:r>
              <a:t>et matricielle des ventes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66751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0">
                <a:solidFill>
                  <a:srgbClr val="DDEAF0"/>
                </a:solidFill>
                <a:latin typeface="Aptos"/>
              </a:rPr>
              <a:t>Comprendre les données • Calculer les indicateurs • Transformer la matrice • Interpréter les résultats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074920"/>
            <a:ext cx="5669280" cy="749808"/>
          </a:xfrm>
          <a:prstGeom prst="roundRect">
            <a:avLst/>
          </a:prstGeom>
          <a:solidFill>
            <a:srgbClr val="123F56"/>
          </a:solidFill>
          <a:ln>
            <a:solidFill>
              <a:srgbClr val="47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52120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Matrice D : 4 régions × 3 produits</a:t>
            </a:r>
            <a:br/>
            <a:r>
              <a:t>Objectif : passer des quantités aux décisions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1. Problème et structure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Chaque ligne correspond à une région et chaque colonne à un produit.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81328"/>
            <a:ext cx="1097280" cy="685800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481328"/>
            <a:ext cx="1097280" cy="685800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58191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481328"/>
            <a:ext cx="1097280" cy="685800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58191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12848"/>
            <a:ext cx="1097280" cy="685800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212848"/>
            <a:ext cx="1097280" cy="685800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231343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212848"/>
            <a:ext cx="1097280" cy="685800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40" y="231343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44368"/>
            <a:ext cx="1097280" cy="685800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04495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2944368"/>
            <a:ext cx="1097280" cy="685800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20240" y="304495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2944368"/>
            <a:ext cx="1097280" cy="685800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304495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75888"/>
            <a:ext cx="1097280" cy="685800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77647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675888"/>
            <a:ext cx="1097280" cy="685800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240" y="377647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3675888"/>
            <a:ext cx="1097280" cy="685800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63240" y="3776472"/>
            <a:ext cx="1097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1170432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A6F97"/>
                </a:solidFill>
                <a:latin typeface="Aptos"/>
              </a:rPr>
              <a:t>Produit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1170432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0F9D8A"/>
                </a:solidFill>
                <a:latin typeface="Aptos"/>
              </a:rPr>
              <a:t>Produit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1170432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4A261"/>
                </a:solidFill>
                <a:latin typeface="Aptos"/>
              </a:rPr>
              <a:t>Produit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1645920"/>
            <a:ext cx="960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E6B76"/>
                </a:solidFill>
                <a:latin typeface="Aptos"/>
              </a:rPr>
              <a:t>Région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377440"/>
            <a:ext cx="960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E6B76"/>
                </a:solidFill>
                <a:latin typeface="Aptos"/>
              </a:rPr>
              <a:t>Région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108960"/>
            <a:ext cx="960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E6B76"/>
                </a:solidFill>
                <a:latin typeface="Aptos"/>
              </a:rPr>
              <a:t>Région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840480"/>
            <a:ext cx="960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E6B76"/>
                </a:solidFill>
                <a:latin typeface="Aptos"/>
              </a:rPr>
              <a:t>Région 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128016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0" y="1280160"/>
            <a:ext cx="82296" cy="114300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80" y="1435607"/>
            <a:ext cx="425195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Dimension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1847088"/>
            <a:ext cx="4251959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D est une matrice 4 × 3 : 4 observations et 3 variables.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269748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83680" y="2697480"/>
            <a:ext cx="82296" cy="114300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2280" y="2852928"/>
            <a:ext cx="425195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Valeurs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264408"/>
            <a:ext cx="4251959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Les nombres indiquent les quantités vendues dans chaque région.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411480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0" y="4114800"/>
            <a:ext cx="82296" cy="114300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0" y="4270248"/>
            <a:ext cx="425195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Prix unitaires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681728"/>
            <a:ext cx="4251959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P = [5, 10, 15]ᵀ pour les produits A, B et 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892040"/>
            <a:ext cx="4754880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50" b="1">
                <a:solidFill>
                  <a:srgbClr val="172B3A"/>
                </a:solidFill>
                <a:latin typeface="Aptos"/>
              </a:rPr>
              <a:t>Lecture : la région 2 vend 6 unités de A, 10 de B et 15 de 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2. Identifier les types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La nature de la variable détermine les calculs pertinents.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1874519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306323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Quantités vendues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3063239" cy="117043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• Quantitatives</a:t>
            </a:r>
            <a:br/>
            <a:r>
              <a:t>• Discrètes</a:t>
            </a:r>
            <a:br/>
            <a:r>
              <a:t>• Valeurs entières</a:t>
            </a:r>
            <a:br/>
            <a:r>
              <a:t>• Échelle de rapport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82296" cy="1874519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389888"/>
            <a:ext cx="306323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Région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801368"/>
            <a:ext cx="3063239" cy="117043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• Qualitative</a:t>
            </a:r>
            <a:br/>
            <a:r>
              <a:t>• Nominale</a:t>
            </a:r>
            <a:br/>
            <a:r>
              <a:t>• Aucun ordre naturel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23444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234440"/>
            <a:ext cx="82296" cy="1874519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389888"/>
            <a:ext cx="306323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Produit A, B,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801368"/>
            <a:ext cx="3063239" cy="117043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• Qualitative</a:t>
            </a:r>
            <a:br/>
            <a:r>
              <a:t>• Nominale</a:t>
            </a:r>
            <a:br/>
            <a:r>
              <a:t>• Catégories de comparaison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03320"/>
            <a:ext cx="10012680" cy="1234440"/>
          </a:xfrm>
          <a:prstGeom prst="roundRect">
            <a:avLst/>
          </a:prstGeom>
          <a:solidFill>
            <a:srgbClr val="E7F5F2"/>
          </a:solidFill>
          <a:ln>
            <a:solidFill>
              <a:srgbClr val="B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3977639"/>
            <a:ext cx="32918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F9D8A"/>
                </a:solidFill>
                <a:latin typeface="Aptos"/>
              </a:rPr>
              <a:t>Pourquoi “échelle de rapport”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913632"/>
            <a:ext cx="5806440" cy="502920"/>
          </a:xfrm>
          <a:prstGeom prst="rect">
            <a:avLst/>
          </a:prstGeom>
          <a:noFill/>
        </p:spPr>
        <p:txBody>
          <a:bodyPr wrap="none" lIns="27432" tIns="27432" rIns="27432" bIns="27432">
            <a:spAutoFit/>
          </a:bodyPr>
          <a:lstStyle/>
          <a:p>
            <a:pPr algn="l"/>
            <a:r>
              <a:rPr sz="1500" b="0">
                <a:solidFill>
                  <a:srgbClr val="172B3A"/>
                </a:solidFill>
                <a:latin typeface="Aptos"/>
              </a:rPr>
              <a:t>Le zéro signifie aucune vente et 10 unités représentent deux fois 5 unités.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03520"/>
            <a:ext cx="85953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3A53"/>
                </a:solidFill>
                <a:latin typeface="Aptos"/>
              </a:rPr>
              <a:t>Moyenne, variance, écart-type et coefficient de variation sont adaptés.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3. Méthode de calcul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Les quatre régions sont considérées comme la population complète.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07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44752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A6F97"/>
                </a:solidFill>
                <a:latin typeface="Aptos"/>
              </a:rPr>
              <a:t>Moyenne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08176"/>
            <a:ext cx="3703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B3A53"/>
                </a:solidFill>
                <a:latin typeface="Aptos"/>
              </a:rPr>
              <a:t>x̄ = Σxᵢ /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444752"/>
            <a:ext cx="3520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72B3A"/>
                </a:solidFill>
                <a:latin typeface="Aptos"/>
              </a:rPr>
              <a:t>Niveau central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13432"/>
            <a:ext cx="10607040" cy="804672"/>
          </a:xfrm>
          <a:prstGeom prst="roundRect">
            <a:avLst/>
          </a:prstGeom>
          <a:solidFill>
            <a:srgbClr val="EEF5F7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523744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9D8A"/>
                </a:solidFill>
                <a:latin typeface="Aptos"/>
              </a:rPr>
              <a:t>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87168"/>
            <a:ext cx="3703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B3A53"/>
                </a:solidFill>
                <a:latin typeface="Aptos"/>
              </a:rPr>
              <a:t>σ² = Σ(xᵢ − x̄)² /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523744"/>
            <a:ext cx="3520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72B3A"/>
                </a:solidFill>
                <a:latin typeface="Aptos"/>
              </a:rPr>
              <a:t>Dispersion au carré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92424"/>
            <a:ext cx="10607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602736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Aptos"/>
              </a:rPr>
              <a:t>Écart-type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566160"/>
            <a:ext cx="3703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B3A53"/>
                </a:solidFill>
                <a:latin typeface="Aptos"/>
              </a:rPr>
              <a:t>σ = √σ²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602736"/>
            <a:ext cx="3520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72B3A"/>
                </a:solidFill>
                <a:latin typeface="Aptos"/>
              </a:rPr>
              <a:t>Dispersion dans l’unité initiale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71416"/>
            <a:ext cx="10607040" cy="804672"/>
          </a:xfrm>
          <a:prstGeom prst="roundRect">
            <a:avLst/>
          </a:prstGeom>
          <a:solidFill>
            <a:srgbClr val="EEF5F7"/>
          </a:solidFill>
          <a:ln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681728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6D597A"/>
                </a:solidFill>
                <a:latin typeface="Aptos"/>
              </a:rPr>
              <a:t>Coefficient de variation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645152"/>
            <a:ext cx="3703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B3A53"/>
                </a:solidFill>
                <a:latin typeface="Aptos"/>
              </a:rPr>
              <a:t>CV = σ / x̄ ×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681728"/>
            <a:ext cx="3520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72B3A"/>
                </a:solidFill>
                <a:latin typeface="Aptos"/>
              </a:rPr>
              <a:t>Dispersion relative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15000"/>
            <a:ext cx="969264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D95D39"/>
                </a:solidFill>
                <a:latin typeface="Aptos"/>
              </a:rPr>
              <a:t>Si les régions formaient un échantillon, la variance serait divisée par n − 1.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4. Résultats descriptifs par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Le produit C a le niveau moyen et la dispersion absolue les plus élevés.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7296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Indicateur</a:t>
                      </a:r>
                    </a:p>
                  </a:txBody>
                  <a:tcPr marL="45720" marR="45720" anchor="ctr">
                    <a:solidFill>
                      <a:srgbClr val="0B3A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Produit A</a:t>
                      </a:r>
                    </a:p>
                  </a:txBody>
                  <a:tcPr marL="45720" marR="45720" anchor="ctr">
                    <a:solidFill>
                      <a:srgbClr val="0B3A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Produit B</a:t>
                      </a:r>
                    </a:p>
                  </a:txBody>
                  <a:tcPr marL="45720" marR="45720" anchor="ctr">
                    <a:solidFill>
                      <a:srgbClr val="0B3A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Produit C</a:t>
                      </a:r>
                    </a:p>
                  </a:txBody>
                  <a:tcPr marL="45720" marR="45720" anchor="ctr">
                    <a:solidFill>
                      <a:srgbClr val="0B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Moyenne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4,50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7,75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11,25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Médiane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4,50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7,50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10,50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Minimum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Maximum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Plage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Variance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1,25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2,19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6,19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Écart-type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1,12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1,48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2,49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37160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371600"/>
            <a:ext cx="82296" cy="123444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1527048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Ventes typiques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38528"/>
            <a:ext cx="2560320" cy="53035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A ≈ 4,5</a:t>
            </a:r>
            <a:br/>
            <a:r>
              <a:t>B ≈ 7,75</a:t>
            </a:r>
            <a:br/>
            <a:r>
              <a:t>C ≈ 11,25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88036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880360"/>
            <a:ext cx="82296" cy="123444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3035808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Plus grande plage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447288"/>
            <a:ext cx="2560320" cy="53035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Produit C : 15 − 9 = 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38912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389120"/>
            <a:ext cx="82296" cy="1234440"/>
          </a:xfrm>
          <a:prstGeom prst="rect">
            <a:avLst/>
          </a:prstGeom>
          <a:solidFill>
            <a:srgbClr val="6D597A"/>
          </a:solidFill>
          <a:ln>
            <a:solidFill>
              <a:srgbClr val="6D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4544568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Point clé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956048"/>
            <a:ext cx="2560320" cy="53035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Comparer aussi la dispersion relative.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5. Profil des ventes selon les régions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La région 2 domine les trois catégories de produits.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pic>
        <p:nvPicPr>
          <p:cNvPr id="6" name="Picture 5" descr="ventes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86384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49640" y="1417320"/>
            <a:ext cx="82296" cy="118872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0" y="1572768"/>
            <a:ext cx="2331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Région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84248"/>
            <a:ext cx="2331720" cy="4846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A = 6</a:t>
            </a:r>
            <a:br/>
            <a:r>
              <a:t>B = 10</a:t>
            </a:r>
            <a:br/>
            <a:r>
              <a:t>C =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88036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9640" y="2880360"/>
            <a:ext cx="82296" cy="11887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3035808"/>
            <a:ext cx="2331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Région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447288"/>
            <a:ext cx="2331720" cy="4846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Niveau global le plus faible.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34340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4343400"/>
            <a:ext cx="82296" cy="105156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4498848"/>
            <a:ext cx="2331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Lecture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910328"/>
            <a:ext cx="2331720" cy="34747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C est le produit le plus vendu partout.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6. Cohérence des ventes : coefficient de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Plus le CV est faible, plus les ventes sont régulières relativement à leur moyenne.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pic>
        <p:nvPicPr>
          <p:cNvPr id="6" name="Picture 5" descr="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1325880"/>
            <a:ext cx="82296" cy="114300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481328"/>
            <a:ext cx="3017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B : le plus cohérent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92807"/>
            <a:ext cx="301752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CV = 19,08 %.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2743200"/>
            <a:ext cx="82296" cy="114300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2898648"/>
            <a:ext cx="3017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A : le moins régulier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10128"/>
            <a:ext cx="301752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CV = 24,85 %.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1605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4160520"/>
            <a:ext cx="82296" cy="114300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4315968"/>
            <a:ext cx="3017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C : intermédiaire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727448"/>
            <a:ext cx="301752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CV = 22,11 %.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7. Transposée de la matrice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La transposition échange les lignes et les colonnes.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29260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B3A53"/>
                </a:solidFill>
                <a:latin typeface="Aptos"/>
              </a:rPr>
              <a:t>D : 4 ×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868680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37943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737360"/>
            <a:ext cx="868680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1837943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737360"/>
            <a:ext cx="868680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837943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359152"/>
            <a:ext cx="868680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459736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359152"/>
            <a:ext cx="868680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83080" y="2459736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359152"/>
            <a:ext cx="868680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97480" y="2459736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980944"/>
            <a:ext cx="868680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081527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83080" y="2980944"/>
            <a:ext cx="868680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83080" y="3081527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2980944"/>
            <a:ext cx="868680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3081527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602736"/>
            <a:ext cx="868680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703320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83080" y="3602736"/>
            <a:ext cx="868680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83080" y="3703320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3602736"/>
            <a:ext cx="868680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97480" y="3703320"/>
            <a:ext cx="8686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423160"/>
            <a:ext cx="914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F4A261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234440"/>
            <a:ext cx="3840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B3A53"/>
                </a:solidFill>
                <a:latin typeface="Aptos"/>
              </a:rPr>
              <a:t>Dᵀ : 3 ×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1828800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1929384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1828800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52360" y="1929384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1828800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1929384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81160" y="1828800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81160" y="1929384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2596896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2697479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2596896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52360" y="2697479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2596896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2697479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2596896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81160" y="2697479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3364991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3465575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3364991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52360" y="3465575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6760" y="3364991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66760" y="3465575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81160" y="3364991"/>
            <a:ext cx="868680" cy="722375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81160" y="3465575"/>
            <a:ext cx="868680" cy="5852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4983480"/>
            <a:ext cx="9875520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172B3A"/>
                </a:solidFill>
                <a:latin typeface="Aptos"/>
              </a:rPr>
              <a:t>La transposée contient les mêmes valeurs, mais dans une organisation différente.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8. Transformer les quantités en revenus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La multiplication D × P applique simultanément les prix à chaque région.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00200"/>
            <a:ext cx="704087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00784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1600200"/>
            <a:ext cx="704087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5648" y="1700784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1600200"/>
            <a:ext cx="704087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456" y="1700784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221992"/>
            <a:ext cx="704087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22576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5648" y="2221992"/>
            <a:ext cx="704087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2322576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456" y="2221992"/>
            <a:ext cx="704087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05456" y="2322576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843784"/>
            <a:ext cx="704087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944368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5648" y="2843784"/>
            <a:ext cx="704087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55648" y="2944368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5456" y="2843784"/>
            <a:ext cx="704087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05456" y="2944368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465576"/>
            <a:ext cx="704087" cy="576072"/>
          </a:xfrm>
          <a:prstGeom prst="roundRect">
            <a:avLst/>
          </a:prstGeom>
          <a:solidFill>
            <a:srgbClr val="2A6F97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566160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55648" y="3465576"/>
            <a:ext cx="704087" cy="576072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55648" y="3566160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5456" y="3465576"/>
            <a:ext cx="704087" cy="576072"/>
          </a:xfrm>
          <a:prstGeom prst="roundRect">
            <a:avLst/>
          </a:prstGeom>
          <a:solidFill>
            <a:srgbClr val="F4A261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05456" y="3566160"/>
            <a:ext cx="70408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06040"/>
            <a:ext cx="4572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4A261"/>
                </a:solidFill>
                <a:latin typeface="Aptos"/>
              </a:rPr>
              <a:t>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80" y="1737360"/>
            <a:ext cx="777240" cy="758952"/>
          </a:xfrm>
          <a:prstGeom prst="roundRect">
            <a:avLst/>
          </a:prstGeom>
          <a:solidFill>
            <a:srgbClr val="6D597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69080" y="1837943"/>
            <a:ext cx="77724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2542032"/>
            <a:ext cx="777240" cy="758952"/>
          </a:xfrm>
          <a:prstGeom prst="roundRect">
            <a:avLst/>
          </a:prstGeom>
          <a:solidFill>
            <a:srgbClr val="6D597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69080" y="2642615"/>
            <a:ext cx="77724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69080" y="3346704"/>
            <a:ext cx="777240" cy="758952"/>
          </a:xfrm>
          <a:prstGeom prst="roundRect">
            <a:avLst/>
          </a:prstGeom>
          <a:solidFill>
            <a:srgbClr val="6D597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69080" y="3447288"/>
            <a:ext cx="77724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606040"/>
            <a:ext cx="5486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4A261"/>
                </a:solidFill>
                <a:latin typeface="Aptos"/>
              </a:rPr>
              <a:t>=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1572768"/>
            <a:ext cx="1005839" cy="594359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1673352"/>
            <a:ext cx="1005839" cy="457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280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2212848"/>
            <a:ext cx="1005839" cy="594359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9320" y="2313432"/>
            <a:ext cx="1005839" cy="457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355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9320" y="2852928"/>
            <a:ext cx="1005839" cy="594359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9320" y="2953512"/>
            <a:ext cx="1005839" cy="457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230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89320" y="3493007"/>
            <a:ext cx="1005839" cy="594359"/>
          </a:xfrm>
          <a:prstGeom prst="roundRect">
            <a:avLst/>
          </a:prstGeom>
          <a:solidFill>
            <a:srgbClr val="0F9D8A"/>
          </a:solidFill>
          <a:ln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9320" y="3593591"/>
            <a:ext cx="1005839" cy="457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1508760"/>
            <a:ext cx="36118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680960" y="1508760"/>
            <a:ext cx="82296" cy="283464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09560" y="1664207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Exemple : Région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2075688"/>
            <a:ext cx="3200400" cy="213055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(6 × 5) + (10 × 10) + (15 × 15)</a:t>
            </a:r>
            <a:br/>
            <a:br/>
            <a:r>
              <a:t>30 + 100 + 225 = 355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507492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72B3A"/>
                </a:solidFill>
                <a:latin typeface="Aptos"/>
              </a:rPr>
              <a:t>Résultat : un vecteur 4 × 1 donnant le revenu de chaque région.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9. Revenu par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La région 2 génère le revenu le plus élevé : 355 unités monétaires.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pic>
        <p:nvPicPr>
          <p:cNvPr id="6" name="Picture 5" descr="revenu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498079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46304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63040"/>
            <a:ext cx="82296" cy="132588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618488"/>
            <a:ext cx="24231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Maximum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29968"/>
            <a:ext cx="2423160" cy="6217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Région 2 = 355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063240"/>
            <a:ext cx="2834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063240"/>
            <a:ext cx="82296" cy="109728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3218688"/>
            <a:ext cx="24231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Écart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30168"/>
            <a:ext cx="2423160" cy="39319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355 − 210 = 145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434840"/>
            <a:ext cx="2834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434840"/>
            <a:ext cx="82296" cy="1097280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4590288"/>
            <a:ext cx="24231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Revenu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001768"/>
            <a:ext cx="2423160" cy="39319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1 075 unités monétaires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10. Revenu total par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Le produit C concentre 62,8 % du revenu global.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pic>
        <p:nvPicPr>
          <p:cNvPr id="6" name="Picture 5" descr="revenu_prod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69280" cy="4754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50876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Produit</a:t>
                      </a:r>
                    </a:p>
                  </a:txBody>
                  <a:tcPr anchor="ctr">
                    <a:solidFill>
                      <a:srgbClr val="0B3A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Quantité</a:t>
                      </a:r>
                    </a:p>
                  </a:txBody>
                  <a:tcPr anchor="ctr">
                    <a:solidFill>
                      <a:srgbClr val="0B3A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Prix</a:t>
                      </a:r>
                    </a:p>
                  </a:txBody>
                  <a:tcPr anchor="ctr">
                    <a:solidFill>
                      <a:srgbClr val="0B3A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Revenu</a:t>
                      </a:r>
                    </a:p>
                  </a:txBody>
                  <a:tcPr anchor="ctr">
                    <a:solidFill>
                      <a:srgbClr val="0B3A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72B3A"/>
                          </a:solidFill>
                          <a:latin typeface="Aptos"/>
                        </a:rP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2B3A"/>
                          </a:solidFill>
                          <a:latin typeface="Aptos"/>
                        </a:rPr>
                        <a:t>1 075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86600" y="4754880"/>
            <a:ext cx="3749039" cy="685800"/>
          </a:xfrm>
          <a:prstGeom prst="roundRect">
            <a:avLst/>
          </a:prstGeom>
          <a:solidFill>
            <a:srgbClr val="FFF2E8"/>
          </a:solidFill>
          <a:ln>
            <a:solidFill>
              <a:srgbClr val="F4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4965192"/>
            <a:ext cx="3383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4A261"/>
                </a:solidFill>
                <a:latin typeface="Aptos"/>
              </a:rPr>
              <a:t>Produit C : 675 / 1 075 = 62,79 %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A53"/>
                </a:solidFill>
                <a:latin typeface="Aptos Display"/>
              </a:rPr>
              <a:t>11. Applications et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E6B76"/>
                </a:solidFill>
                <a:latin typeface="Aptos"/>
              </a:rPr>
              <a:t>La statistique décrit, l’algèbre linéaire transforme et l’interprétation guide la décision.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Aptos"/>
              </a:rPr>
              <a:t>STATISTIQUES • DONNÉES • MATRICES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82296" cy="1828800"/>
          </a:xfrm>
          <a:prstGeom prst="rect">
            <a:avLst/>
          </a:prstGeom>
          <a:solidFill>
            <a:srgbClr val="0F9D8A"/>
          </a:solidFill>
          <a:ln>
            <a:solidFill>
              <a:srgbClr val="0F9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Calculs de revenus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3108960" cy="11247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Quantités × prix</a:t>
            </a:r>
            <a:br/>
            <a:r>
              <a:t>Scénarios de prix</a:t>
            </a:r>
            <a:br/>
            <a:r>
              <a:t>Prévisions budgétaires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82296" cy="1828800"/>
          </a:xfrm>
          <a:prstGeom prst="rect">
            <a:avLst/>
          </a:prstGeom>
          <a:solidFill>
            <a:srgbClr val="6D597A"/>
          </a:solidFill>
          <a:ln>
            <a:solidFill>
              <a:srgbClr val="6D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89888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Recommandation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01368"/>
            <a:ext cx="3108960" cy="11247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Utilisateurs × préférences</a:t>
            </a:r>
            <a:br/>
            <a:r>
              <a:t>Caractéristiques ×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344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234440"/>
            <a:ext cx="82296" cy="182880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A53"/>
                </a:solidFill>
                <a:latin typeface="Aptos"/>
              </a:rPr>
              <a:t>Modèles prédictifs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01368"/>
            <a:ext cx="3108960" cy="11247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172B3A"/>
                </a:solidFill>
                <a:latin typeface="Aptos"/>
              </a:rPr>
              <a:t>X × β</a:t>
            </a:r>
            <a:br/>
            <a:r>
              <a:t>Régression</a:t>
            </a:r>
            <a:br/>
            <a:r>
              <a:t>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03320"/>
            <a:ext cx="10332720" cy="1508760"/>
          </a:xfrm>
          <a:prstGeom prst="roundRect">
            <a:avLst/>
          </a:prstGeom>
          <a:solidFill>
            <a:srgbClr val="EAF2F5"/>
          </a:solidFill>
          <a:ln>
            <a:solidFill>
              <a:srgbClr val="C8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977639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B3A53"/>
                </a:solidFill>
                <a:latin typeface="Aptos"/>
              </a:rPr>
              <a:t>Exemple métallurgique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886200"/>
            <a:ext cx="6858000" cy="749808"/>
          </a:xfrm>
          <a:prstGeom prst="rect">
            <a:avLst/>
          </a:prstGeom>
          <a:noFill/>
        </p:spPr>
        <p:txBody>
          <a:bodyPr wrap="none" lIns="27432" tIns="27432" rIns="27432" bIns="27432">
            <a:spAutoFit/>
          </a:bodyPr>
          <a:lstStyle/>
          <a:p>
            <a:pPr algn="l"/>
            <a:r>
              <a:rPr sz="1500" b="0">
                <a:solidFill>
                  <a:srgbClr val="172B3A"/>
                </a:solidFill>
                <a:latin typeface="Aptos"/>
              </a:rPr>
              <a:t>Consommations de réactifs × coûts unitaires = coût total par équipe, période ou secteur.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32120"/>
            <a:ext cx="9875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9D8A"/>
                </a:solidFill>
                <a:latin typeface="Aptos"/>
              </a:rPr>
              <a:t>Résultats clés : C domine les ventes et le revenu • B est le plus stable • Région 2 est la plus rentable • Total = 1 075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891</Words>
  <Application>Microsoft Office PowerPoint</Application>
  <PresentationFormat>Widescreen</PresentationFormat>
  <Paragraphs>223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Moussa Faye</dc:creator>
  <cp:keywords/>
  <dc:description>generated using python-pptx</dc:description>
  <cp:lastModifiedBy>Moussa Faye</cp:lastModifiedBy>
  <cp:revision>1</cp:revision>
  <dcterms:created xsi:type="dcterms:W3CDTF">2026-10-23T19:30:31Z</dcterms:created>
  <dcterms:modified xsi:type="dcterms:W3CDTF">2026-10-23T19:37:43Z</dcterms:modified>
  <cp:category/>
</cp:coreProperties>
</file>